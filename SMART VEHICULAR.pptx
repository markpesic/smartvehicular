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embeddedFontLst>
    <p:embeddedFont>
      <p:font typeface="Montserrat"/>
      <p:regular r:id="rId21"/>
      <p:bold r:id="rId22"/>
      <p:italic r:id="rId23"/>
      <p:boldItalic r:id="rId24"/>
    </p:embeddedFont>
    <p:embeddedFont>
      <p:font typeface="Lato"/>
      <p:regular r:id="rId25"/>
      <p:bold r:id="rId26"/>
      <p:italic r:id="rId27"/>
      <p:boldItalic r:id="rId2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font" Target="fonts/Montserrat-bold.fntdata"/><Relationship Id="rId21" Type="http://schemas.openxmlformats.org/officeDocument/2006/relationships/font" Target="fonts/Montserrat-regular.fntdata"/><Relationship Id="rId24" Type="http://schemas.openxmlformats.org/officeDocument/2006/relationships/font" Target="fonts/Montserrat-boldItalic.fntdata"/><Relationship Id="rId23" Type="http://schemas.openxmlformats.org/officeDocument/2006/relationships/font" Target="fonts/Montserrat-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Lato-bold.fntdata"/><Relationship Id="rId25" Type="http://schemas.openxmlformats.org/officeDocument/2006/relationships/font" Target="fonts/Lato-regular.fntdata"/><Relationship Id="rId28" Type="http://schemas.openxmlformats.org/officeDocument/2006/relationships/font" Target="fonts/Lato-boldItalic.fntdata"/><Relationship Id="rId27" Type="http://schemas.openxmlformats.org/officeDocument/2006/relationships/font" Target="fonts/Lato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ee5ba22aee_0_1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ee5ba22aee_0_1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ee5ba22aee_0_1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ee5ba22aee_0_1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ee5ba22aee_0_1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ee5ba22aee_0_1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ee5ba22aee_0_1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ee5ba22aee_0_1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ee5ba22aee_0_1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ee5ba22aee_0_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ee5ba22aee_0_1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ee5ba22aee_0_1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ee5ba22aee_0_1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ee5ba22aee_0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ee5ba22aee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" name="Google Shape;182;g3ee5ba22aee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ee5ba22aee_0_1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ee5ba22aee_0_1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ee5ba22aee_0_1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ee5ba22aee_0_1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ee5ba22aee_0_1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3ee5ba22aee_0_1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ee5ba22aee_0_1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3ee5ba22aee_0_1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3ee5ba22aee_0_2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" name="Google Shape;215;g3ee5ba22aee_0_2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ee5ba22aee_0_2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ee5ba22aee_0_2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fmla="val 0" name="adj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fmla="val 58774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9" name="Google Shape;39;p3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0" name="Google Shape;4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6" name="Google Shape;46;p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7" name="Google Shape;4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3" name="Google Shape;53;p5"/>
          <p:cNvSpPr txBox="1"/>
          <p:nvPr>
            <p:ph idx="1" type="body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5"/>
          <p:cNvSpPr txBox="1"/>
          <p:nvPr>
            <p:ph idx="2" type="body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1" name="Google Shape;61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7"/>
          <p:cNvSpPr txBox="1"/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7"/>
          <p:cNvSpPr txBox="1"/>
          <p:nvPr>
            <p:ph idx="1" type="body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8" name="Google Shape;6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9" name="Google Shape;89;p8"/>
          <p:cNvSpPr txBox="1"/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0" name="Google Shape;90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9"/>
          <p:cNvSpPr txBox="1"/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6" name="Google Shape;96;p9"/>
          <p:cNvSpPr txBox="1"/>
          <p:nvPr>
            <p:ph idx="1" type="subTitle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97" name="Google Shape;97;p9"/>
          <p:cNvSpPr txBox="1"/>
          <p:nvPr>
            <p:ph idx="2" type="body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1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1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10"/>
          <p:cNvSpPr txBox="1"/>
          <p:nvPr>
            <p:ph idx="1" type="body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4" name="Google Shape;104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5" name="Google Shape;125;p11"/>
          <p:cNvSpPr txBox="1"/>
          <p:nvPr>
            <p:ph hasCustomPrompt="1" type="title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/>
          <p:nvPr>
            <p:ph idx="1" type="body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7" name="Google Shape;12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focus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D</a:t>
            </a:r>
            <a:r>
              <a:rPr lang="it"/>
              <a:t>river drowsiness detection via steering monitoring </a:t>
            </a:r>
            <a:endParaRPr/>
          </a:p>
        </p:txBody>
      </p:sp>
      <p:sp>
        <p:nvSpPr>
          <p:cNvPr id="135" name="Google Shape;135;p13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Motivations</a:t>
            </a:r>
            <a:endParaRPr/>
          </a:p>
        </p:txBody>
      </p:sp>
      <p:sp>
        <p:nvSpPr>
          <p:cNvPr id="141" name="Google Shape;141;p1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it" sz="2000"/>
              <a:t>Attempt to reduce road accidents caused by driver drowsiness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it" sz="2000"/>
              <a:t>A</a:t>
            </a:r>
            <a:r>
              <a:rPr lang="it" sz="2000"/>
              <a:t>ttempt to detect early signs of microsleep episodes before a loss-of-control 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it" sz="2000"/>
              <a:t>demonstrate a non-intrusive drowsiness detection approach that requires no </a:t>
            </a:r>
            <a:r>
              <a:rPr lang="it" sz="2000"/>
              <a:t>additional</a:t>
            </a:r>
            <a:r>
              <a:rPr lang="it" sz="2000"/>
              <a:t> sensors (camera, EEG, etc.) beyond the steering input </a:t>
            </a:r>
            <a:endParaRPr sz="2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Data generation</a:t>
            </a:r>
            <a:endParaRPr/>
          </a:p>
        </p:txBody>
      </p:sp>
      <p:sp>
        <p:nvSpPr>
          <p:cNvPr id="147" name="Google Shape;147;p15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it" sz="3000"/>
              <a:t>Data generation for this problem is the most </a:t>
            </a:r>
            <a:r>
              <a:rPr lang="it" sz="3000"/>
              <a:t>important</a:t>
            </a:r>
            <a:r>
              <a:rPr lang="it" sz="3000"/>
              <a:t> step given the fact that </a:t>
            </a:r>
            <a:r>
              <a:rPr lang="it" sz="3000"/>
              <a:t>publicly</a:t>
            </a:r>
            <a:r>
              <a:rPr lang="it" sz="3000"/>
              <a:t> data </a:t>
            </a:r>
            <a:r>
              <a:rPr lang="it" sz="3000"/>
              <a:t>available</a:t>
            </a:r>
            <a:r>
              <a:rPr lang="it" sz="3000"/>
              <a:t> is scarce and mostly not open </a:t>
            </a:r>
            <a:endParaRPr sz="3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Data Generation </a:t>
            </a:r>
            <a:r>
              <a:rPr lang="it">
                <a:latin typeface="Lato"/>
                <a:ea typeface="Lato"/>
                <a:cs typeface="Lato"/>
                <a:sym typeface="Lato"/>
              </a:rPr>
              <a:t>#1st attempt autopilot + artificial sabotage</a:t>
            </a:r>
            <a:endParaRPr/>
          </a:p>
        </p:txBody>
      </p:sp>
      <p:sp>
        <p:nvSpPr>
          <p:cNvPr id="153" name="Google Shape;153;p16"/>
          <p:cNvSpPr txBox="1"/>
          <p:nvPr>
            <p:ph idx="1" type="body"/>
          </p:nvPr>
        </p:nvSpPr>
        <p:spPr>
          <a:xfrm>
            <a:off x="1297500" y="1567550"/>
            <a:ext cx="7696200" cy="324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600"/>
              <a:t>Alert state = CARLA autopilot; Drowsy = autopilot + perturbation injected on steering</a:t>
            </a:r>
            <a:endParaRPr sz="1600"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it" sz="1600">
                <a:solidFill>
                  <a:srgbClr val="00FF00"/>
                </a:solidFill>
              </a:rPr>
              <a:t>White noise</a:t>
            </a:r>
            <a:r>
              <a:rPr lang="it" sz="1600"/>
              <a:t>: Random jitter on steer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it" sz="1600">
                <a:solidFill>
                  <a:srgbClr val="00FF00"/>
                </a:solidFill>
              </a:rPr>
              <a:t>Sinusoidal drift</a:t>
            </a:r>
            <a:r>
              <a:rPr lang="it" sz="1600"/>
              <a:t>: low frequency oscillation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it" sz="1600">
                <a:solidFill>
                  <a:srgbClr val="00FF00"/>
                </a:solidFill>
              </a:rPr>
              <a:t>Random freezes</a:t>
            </a:r>
            <a:r>
              <a:rPr lang="it" sz="1600"/>
              <a:t>: Zero input for N steps</a:t>
            </a:r>
            <a:endParaRPr sz="16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it" sz="1500">
                <a:solidFill>
                  <a:srgbClr val="FF0000"/>
                </a:solidFill>
              </a:rPr>
              <a:t>Problem</a:t>
            </a:r>
            <a:r>
              <a:rPr lang="it" sz="1500"/>
              <a:t>: </a:t>
            </a:r>
            <a:r>
              <a:rPr b="1" lang="it" sz="1500"/>
              <a:t>noise painted on “kind of good </a:t>
            </a:r>
            <a:r>
              <a:rPr b="1" lang="it" sz="1500"/>
              <a:t>steering”. Classifier just learns “autopilot vs autopilot+noise”. The baseline doesn’t have anything to do with human driving</a:t>
            </a:r>
            <a:endParaRPr b="1" sz="15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7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Data Generation </a:t>
            </a:r>
            <a:r>
              <a:rPr lang="it">
                <a:latin typeface="Lato"/>
                <a:ea typeface="Lato"/>
                <a:cs typeface="Lato"/>
                <a:sym typeface="Lato"/>
              </a:rPr>
              <a:t>#2nd attempt Reinforcement Learning</a:t>
            </a:r>
            <a:endParaRPr/>
          </a:p>
        </p:txBody>
      </p:sp>
      <p:sp>
        <p:nvSpPr>
          <p:cNvPr id="159" name="Google Shape;159;p17"/>
          <p:cNvSpPr txBox="1"/>
          <p:nvPr>
            <p:ph idx="1" type="body"/>
          </p:nvPr>
        </p:nvSpPr>
        <p:spPr>
          <a:xfrm>
            <a:off x="1297500" y="1567550"/>
            <a:ext cx="7696200" cy="324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600"/>
              <a:t>Train two PPO agents: one for the alert driving, one for drowsy driving</a:t>
            </a:r>
            <a:endParaRPr sz="1600"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it" sz="1600">
                <a:solidFill>
                  <a:srgbClr val="00FF00"/>
                </a:solidFill>
              </a:rPr>
              <a:t>Alert Agent</a:t>
            </a:r>
            <a:r>
              <a:rPr lang="it" sz="1600"/>
              <a:t>: Standard lane-keeping reward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it" sz="1600">
                <a:solidFill>
                  <a:srgbClr val="00FF00"/>
                </a:solidFill>
              </a:rPr>
              <a:t>Drowsy Agent</a:t>
            </a:r>
            <a:r>
              <a:rPr lang="it" sz="1600"/>
              <a:t>: reward design ????</a:t>
            </a:r>
            <a:endParaRPr sz="16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it" sz="1500">
                <a:solidFill>
                  <a:srgbClr val="FF0000"/>
                </a:solidFill>
              </a:rPr>
              <a:t>Problem</a:t>
            </a:r>
            <a:r>
              <a:rPr lang="it" sz="1500"/>
              <a:t>: </a:t>
            </a:r>
            <a:r>
              <a:rPr b="1" lang="it" sz="1500"/>
              <a:t>Drowsy reward is non-trivial, if you just invert the reward, the driving becomes chaotic , not drowsy.</a:t>
            </a:r>
            <a:endParaRPr b="1" sz="15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8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Data Generation </a:t>
            </a:r>
            <a:r>
              <a:rPr lang="it">
                <a:latin typeface="Lato"/>
                <a:ea typeface="Lato"/>
                <a:cs typeface="Lato"/>
                <a:sym typeface="Lato"/>
              </a:rPr>
              <a:t>#3rd attempt Human Driving (what i used)</a:t>
            </a:r>
            <a:endParaRPr/>
          </a:p>
        </p:txBody>
      </p:sp>
      <p:sp>
        <p:nvSpPr>
          <p:cNvPr id="165" name="Google Shape;165;p18"/>
          <p:cNvSpPr txBox="1"/>
          <p:nvPr>
            <p:ph idx="1" type="body"/>
          </p:nvPr>
        </p:nvSpPr>
        <p:spPr>
          <a:xfrm>
            <a:off x="1297500" y="1567550"/>
            <a:ext cx="7696200" cy="324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600"/>
              <a:t>Same person drives alert and drowsy, the signal is real</a:t>
            </a:r>
            <a:endParaRPr sz="1600"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it" sz="1600">
                <a:solidFill>
                  <a:srgbClr val="00FF00"/>
                </a:solidFill>
              </a:rPr>
              <a:t>Mouse steering</a:t>
            </a:r>
            <a:r>
              <a:rPr lang="it" sz="1600"/>
              <a:t>: </a:t>
            </a:r>
            <a:r>
              <a:rPr lang="it" sz="1600"/>
              <a:t>Continuous</a:t>
            </a:r>
            <a:r>
              <a:rPr lang="it" sz="1600"/>
              <a:t> signal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it" sz="1600">
                <a:solidFill>
                  <a:srgbClr val="00FF00"/>
                </a:solidFill>
              </a:rPr>
              <a:t>Town04 highway</a:t>
            </a:r>
            <a:r>
              <a:rPr lang="it" sz="1600"/>
              <a:t>: Monotony leads to drowsiness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it" sz="1600">
                <a:solidFill>
                  <a:srgbClr val="00FF00"/>
                </a:solidFill>
              </a:rPr>
              <a:t>Feature correctness</a:t>
            </a:r>
            <a:r>
              <a:rPr lang="it" sz="1600"/>
              <a:t>: Features move in literature predicted directions.</a:t>
            </a:r>
            <a:endParaRPr sz="16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it" sz="1500">
                <a:solidFill>
                  <a:srgbClr val="FF0000"/>
                </a:solidFill>
              </a:rPr>
              <a:t>Problem</a:t>
            </a:r>
            <a:r>
              <a:rPr lang="it" sz="1500"/>
              <a:t>: Not a good statistical test, the population is just 1, it is not a realistic study</a:t>
            </a:r>
            <a:endParaRPr b="1" sz="15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9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Data generation</a:t>
            </a:r>
            <a:endParaRPr/>
          </a:p>
        </p:txBody>
      </p:sp>
      <p:sp>
        <p:nvSpPr>
          <p:cNvPr id="171" name="Google Shape;171;p19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72" name="Google Shape;172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97500" y="1672806"/>
            <a:ext cx="7038900" cy="25633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0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Data acquisition</a:t>
            </a:r>
            <a:endParaRPr/>
          </a:p>
        </p:txBody>
      </p:sp>
      <p:sp>
        <p:nvSpPr>
          <p:cNvPr id="178" name="Google Shape;178;p20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79" name="Google Shape;1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97504" y="1672829"/>
            <a:ext cx="7038900" cy="20056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1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Feature extraction</a:t>
            </a:r>
            <a:endParaRPr/>
          </a:p>
        </p:txBody>
      </p:sp>
      <p:sp>
        <p:nvSpPr>
          <p:cNvPr id="185" name="Google Shape;185;p21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600">
                <a:solidFill>
                  <a:srgbClr val="00FF00"/>
                </a:solidFill>
              </a:rPr>
              <a:t>Windowing</a:t>
            </a:r>
            <a:r>
              <a:rPr lang="it" sz="1600"/>
              <a:t>: The </a:t>
            </a:r>
            <a:r>
              <a:rPr lang="it" sz="1600"/>
              <a:t>continuous</a:t>
            </a:r>
            <a:r>
              <a:rPr lang="it" sz="1600"/>
              <a:t> steering signal is sliced into fixed-length </a:t>
            </a:r>
            <a:r>
              <a:rPr lang="it" sz="1600"/>
              <a:t>windows</a:t>
            </a:r>
            <a:r>
              <a:rPr lang="it" sz="1600"/>
              <a:t> of 15 seconds (300 samples at 20Hz) with 75% overlap (steps of 2s)</a:t>
            </a:r>
            <a:endParaRPr sz="1600"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it" sz="1600"/>
              <a:t>balances temporal resolution against window length: 15 seconds is long enough to capture a full drift-then correct cycle,while the high overlap maximises the number of training examples from limited session data. </a:t>
            </a:r>
            <a:endParaRPr sz="16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2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Feature extraction steering features</a:t>
            </a:r>
            <a:endParaRPr/>
          </a:p>
        </p:txBody>
      </p:sp>
      <p:sp>
        <p:nvSpPr>
          <p:cNvPr id="191" name="Google Shape;191;p22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92" name="Google Shape;192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62925" y="1017725"/>
            <a:ext cx="6447826" cy="4010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3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Feature extraction steering features</a:t>
            </a:r>
            <a:endParaRPr/>
          </a:p>
        </p:txBody>
      </p:sp>
      <p:sp>
        <p:nvSpPr>
          <p:cNvPr id="198" name="Google Shape;198;p23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99" name="Google Shape;199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97500" y="1808175"/>
            <a:ext cx="7038900" cy="2003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Classification Model</a:t>
            </a:r>
            <a:endParaRPr/>
          </a:p>
        </p:txBody>
      </p:sp>
      <p:sp>
        <p:nvSpPr>
          <p:cNvPr id="205" name="Google Shape;205;p2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it" sz="1600">
                <a:solidFill>
                  <a:srgbClr val="00FF00"/>
                </a:solidFill>
              </a:rPr>
              <a:t> Logistic regression</a:t>
            </a:r>
            <a:r>
              <a:rPr lang="it" sz="1600"/>
              <a:t> (with standardised features and balanced class weights) as the interpretable baseline. Its coefficients directly indicate which steering features contribute to drowsiness and in which direction. 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it" sz="1600">
                <a:solidFill>
                  <a:srgbClr val="00FF00"/>
                </a:solidFill>
              </a:rPr>
              <a:t>Random forest</a:t>
            </a:r>
            <a:r>
              <a:rPr lang="it" sz="1600"/>
              <a:t> (300 trees, max depth 4, min samples leaf 3, balanced subsample weighting) as a capacity-limited ensemble. 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it" sz="1600">
                <a:solidFill>
                  <a:srgbClr val="00FF00"/>
                </a:solidFill>
              </a:rPr>
              <a:t>Deep learning</a:t>
            </a:r>
            <a:r>
              <a:rPr lang="it" sz="1600"/>
              <a:t> approaches (LSTMs, 1D-CNNs) were deliberately avoided. With approxi mately 1000 correlated windows from a single subject, a neural network would memorise the subject and session rather than learning drowsiness. </a:t>
            </a:r>
            <a:endParaRPr sz="1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2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Dataset</a:t>
            </a:r>
            <a:endParaRPr/>
          </a:p>
        </p:txBody>
      </p:sp>
      <p:sp>
        <p:nvSpPr>
          <p:cNvPr id="211" name="Google Shape;211;p25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212" name="Google Shape;212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14838" y="1622975"/>
            <a:ext cx="4333875" cy="2800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Benchmark</a:t>
            </a:r>
            <a:endParaRPr/>
          </a:p>
        </p:txBody>
      </p:sp>
      <p:sp>
        <p:nvSpPr>
          <p:cNvPr id="218" name="Google Shape;218;p26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219" name="Google Shape;219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97502" y="1449077"/>
            <a:ext cx="7350501" cy="2911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7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Feature analysis</a:t>
            </a:r>
            <a:endParaRPr/>
          </a:p>
        </p:txBody>
      </p:sp>
      <p:sp>
        <p:nvSpPr>
          <p:cNvPr id="225" name="Google Shape;225;p27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226" name="Google Shape;226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00175" y="1100900"/>
            <a:ext cx="6343650" cy="354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